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10728655" cy="1097280"/>
          </a:xfrm>
          <a:prstGeom prst="roundRect">
            <a:avLst/>
          </a:prstGeom>
          <a:solidFill>
            <a:srgbClr val="1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IILM UNIVERSITY, GREATER NOIDA</a:t>
            </a:r>
          </a:p>
          <a:p>
            <a:pPr algn="ctr">
              <a:defRPr sz="1300">
                <a:solidFill>
                  <a:srgbClr val="00B4A0"/>
                </a:solidFill>
              </a:defRPr>
            </a:pPr>
            <a:r>
              <a:t>School of Computer Science and Engineering | Summer Internship 2026-27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728655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A0"/>
                </a:solidFill>
              </a:defRPr>
            </a:pPr>
            <a:r>
              <a:t>INTERNSHIP PRESENTATION</a:t>
            </a:r>
          </a:p>
          <a:p>
            <a:pPr algn="ctr">
              <a:defRPr sz="2400" b="1">
                <a:solidFill>
                  <a:srgbClr val="0A2540"/>
                </a:solidFill>
              </a:defRPr>
            </a:pPr>
            <a:r>
              <a:t>Cloud Infrastructure Automation &amp; Containerized Deployment Platform</a:t>
            </a:r>
          </a:p>
          <a:p>
            <a:pPr algn="ctr">
              <a:defRPr sz="1200" i="1">
                <a:solidFill>
                  <a:srgbClr val="64748B"/>
                </a:solidFill>
              </a:defRPr>
            </a:pPr>
            <a:r>
              <a:t>AWS • Terraform • Docker • Kubernetes • Jenkins • Prometheus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12080" cy="2194560"/>
          </a:xfrm>
          <a:prstGeom prst="roundRect">
            <a:avLst/>
          </a:prstGeom>
          <a:solidFill>
            <a:srgbClr val="1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STUDENT DETAILS</a:t>
            </a:r>
          </a:p>
          <a:p>
            <a:r>
              <a:rPr b="1" sz="1300">
                <a:solidFill>
                  <a:srgbClr val="00B4A0"/>
                </a:solidFill>
              </a:rPr>
              <a:t>Student Name: </a:t>
            </a:r>
            <a:r>
              <a:rPr b="1" sz="1300">
                <a:solidFill>
                  <a:srgbClr val="FFFFFF"/>
                </a:solidFill>
              </a:rPr>
              <a:t>PawanDubey</a:t>
            </a:r>
          </a:p>
          <a:p>
            <a:r>
              <a:rPr b="1" sz="1300">
                <a:solidFill>
                  <a:srgbClr val="00B4A0"/>
                </a:solidFill>
              </a:rPr>
              <a:t>Enrollment / Roll No: </a:t>
            </a:r>
            <a:r>
              <a:rPr b="1" sz="1300">
                <a:solidFill>
                  <a:srgbClr val="FFFFFF"/>
                </a:solidFill>
              </a:rPr>
              <a:t>CS-2341492</a:t>
            </a:r>
          </a:p>
          <a:p>
            <a:r>
              <a:rPr b="1" sz="1300">
                <a:solidFill>
                  <a:srgbClr val="00B4A0"/>
                </a:solidFill>
              </a:rPr>
              <a:t>Program &amp; Sem: </a:t>
            </a:r>
            <a:r>
              <a:rPr b="1" sz="1300">
                <a:solidFill>
                  <a:srgbClr val="FFFFFF"/>
                </a:solidFill>
              </a:rPr>
              <a:t>B.Tech CSE (4CSE8), 7th Sem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4023360"/>
            <a:ext cx="5212080" cy="2194560"/>
          </a:xfrm>
          <a:prstGeom prst="roundRect">
            <a:avLst/>
          </a:prstGeom>
          <a:solidFill>
            <a:srgbClr val="1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41148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ORGANIZATION DETAILS</a:t>
            </a:r>
          </a:p>
          <a:p>
            <a:r>
              <a:rPr b="1" sz="1300">
                <a:solidFill>
                  <a:srgbClr val="00B4A0"/>
                </a:solidFill>
              </a:rPr>
              <a:t>Organization Name: </a:t>
            </a:r>
            <a:r>
              <a:rPr b="1" sz="1300">
                <a:solidFill>
                  <a:srgbClr val="FFFFFF"/>
                </a:solidFill>
              </a:rPr>
              <a:t>SystemaOps (systemaops.com)</a:t>
            </a:r>
          </a:p>
          <a:p>
            <a:r>
              <a:rPr b="1" sz="1300">
                <a:solidFill>
                  <a:srgbClr val="00B4A0"/>
                </a:solidFill>
              </a:rPr>
              <a:t>Internship Role: </a:t>
            </a:r>
            <a:r>
              <a:rPr b="1" sz="1300">
                <a:solidFill>
                  <a:srgbClr val="FFFFFF"/>
                </a:solidFill>
              </a:rPr>
              <a:t>Cloud &amp; DevOps Engineering Intern</a:t>
            </a:r>
          </a:p>
          <a:p>
            <a:r>
              <a:rPr b="1" sz="1300">
                <a:solidFill>
                  <a:srgbClr val="00B4A0"/>
                </a:solidFill>
              </a:rPr>
              <a:t>Duration: </a:t>
            </a:r>
            <a:r>
              <a:rPr b="1" sz="1300">
                <a:solidFill>
                  <a:srgbClr val="FFFFFF"/>
                </a:solidFill>
              </a:rPr>
              <a:t>Summer 2026 (3 Months)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2540"/>
                </a:solidFill>
              </a:defRPr>
            </a:pPr>
            <a:r>
              <a:t>Executive Summary &amp; Internship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13455" cy="4663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413455" cy="7315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323057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Cloud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0476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1E293B"/>
                </a:solidFill>
              </a:defRPr>
            </a:pPr>
            <a:r>
              <a:t>Provisioned Multi-AZ AWS architecture using HashiCorp Terraform modules for automated VPC, ALB, EC2, and RDS deployment.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413455" cy="4663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463040"/>
            <a:ext cx="3413455" cy="73152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1554480"/>
            <a:ext cx="323057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CI/CD &amp; Containers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30476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1E293B"/>
                </a:solidFill>
              </a:defRPr>
            </a:pPr>
            <a:r>
              <a:t>Automated end-to-end testing, Docker multi-stage builds, and zero-downtime deployment pipelines using Jenkins &amp; GitHub Actions.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413455" cy="4663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463040"/>
            <a:ext cx="3413455" cy="7315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554480"/>
            <a:ext cx="323057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Observability &amp;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377440"/>
            <a:ext cx="30476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1E293B"/>
                </a:solidFill>
              </a:defRPr>
            </a:pPr>
            <a:r>
              <a:t>Integrated Prometheus time-series metrics collection and Grafana real-time dashboards for proactive alerting and diagnostic tracking.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2540"/>
                </a:solidFill>
              </a:defRPr>
            </a:pPr>
            <a:r>
              <a:t>Organization Profile &amp; Role Definition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2540"/>
                </a:solidFill>
              </a:defRPr>
            </a:pPr>
            <a:r>
              <a:t>SystemaOps (systemaops.com)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Specialized Cloud &amp; DevOps Consulting Enterprise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Empowers organizations to transition to cloud-native microservices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Expertise in AWS, Infrastructure as Code, Kubernetes &amp; DevSecOps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Focus on zero-downtime deployments, cost optimization &amp; security compliance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371600"/>
            <a:ext cx="521208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30975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B4A0"/>
                </a:solidFill>
              </a:defRPr>
            </a:pPr>
            <a:r>
              <a:t>Role: Cloud &amp; DevOps Engineering Intern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Architected declarative Terraform modules for AWS VPC and ALB infrastructure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Containerized full-stack services (Node.js, Express, React, MongoDB)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Configured multi-stage CI/CD pipelines in Jenkins and GitHub Actions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Implemented Kubernetes deployment manifests and Nginx Reverse Proxy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Deployed Prometheus &amp; Grafana stack for live metric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2540"/>
                </a:solidFill>
              </a:defRPr>
            </a:pPr>
            <a:r>
              <a:t>Problem Statement &amp; Strategic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C2626"/>
                </a:solidFill>
              </a:defRPr>
            </a:pPr>
            <a:r>
              <a:t>Identified Challenges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❌ Environmental Drift: Differences between dev, staging, and production environments.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❌ Manual Provisioning: Slow, error-prone manual cloud configuration.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❌ Deployment Downtime: Risk of service interruptions during release cycles.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❌ Lack of Visibility: Insufficient real-time insights into system health and latency.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371600"/>
            <a:ext cx="521208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30975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B4A0"/>
                </a:solidFill>
              </a:defRPr>
            </a:pPr>
            <a:r>
              <a:t>Project Objectives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✅ Infrastructure as Code: Automate 100% AWS cloud provisioning using Terraform.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✅ Containerization: Standardize microservices with Docker &amp; Compose.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✅ CI/CD Automation: Zero-downtime deployments via Jenkins &amp; GitHub Actions.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✅ Real-Time Monitoring: Prometheus &amp; Grafana metrics collection &amp; alerts.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2540"/>
                </a:solidFill>
              </a:defRPr>
            </a:pPr>
            <a:r>
              <a:t>Multi-AZ AWS 3-Tier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" cy="13716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0876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2540"/>
                </a:solidFill>
              </a:defRPr>
            </a:pPr>
            <a:r>
              <a:t>Tier 1: Public Presentation Tier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AWS Application Load Balancer (ALB) • Public Subnets Multi-AZ • Nginx Reverse Proxy • SSL/TLS Termination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10728655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017520"/>
            <a:ext cx="182880" cy="137160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154679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B4A0"/>
                </a:solidFill>
              </a:defRPr>
            </a:pPr>
            <a:r>
              <a:t>Tier 2: Private Application Tier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EC2 Auto-Scaling Group • Private Subnets • Kubernetes Worker Pods • Outbound via NAT Gateway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10728655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663440"/>
            <a:ext cx="182880" cy="13716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80060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2540"/>
                </a:solidFill>
              </a:defRPr>
            </a:pPr>
            <a:r>
              <a:t>Tier 3: Isolated Database Tier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Amazon RDS (Multi-AZ MongoDB/PostgreSQL) • Private Database Subnets • Restricted Security Groups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2540"/>
                </a:solidFill>
              </a:defRPr>
            </a:pPr>
            <a:r>
              <a:t>Technologies &amp; DevOps Toolstack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13455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476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2540"/>
                </a:solidFill>
              </a:defRPr>
            </a:pPr>
            <a:r>
              <a:t>AWS Cloud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EC2, ALB, VPC, S3, RDS, CloudWatch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413455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0476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B4A0"/>
                </a:solidFill>
              </a:defRPr>
            </a:pPr>
            <a:r>
              <a:t>Terraform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Infrastructure as Code &amp; State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413455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0476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2540"/>
                </a:solidFill>
              </a:defRPr>
            </a:pPr>
            <a:r>
              <a:t>Docker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Containerization &amp; Multi-Stage Builds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39"/>
            <a:ext cx="3413455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59"/>
            <a:ext cx="30476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B4A0"/>
                </a:solidFill>
              </a:defRPr>
            </a:pPr>
            <a:r>
              <a:t>Kubernetes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Pod Orchestration &amp; Rolling Updates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749039"/>
            <a:ext cx="3413455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4023359"/>
            <a:ext cx="30476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2540"/>
                </a:solidFill>
              </a:defRPr>
            </a:pPr>
            <a:r>
              <a:t>Jenkins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CI/CD Pipeline Automation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749039"/>
            <a:ext cx="3413455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023359"/>
            <a:ext cx="30476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B4A0"/>
                </a:solidFill>
              </a:defRPr>
            </a:pPr>
            <a:r>
              <a:t>Prometheus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Time-Series Metric Scraping &amp; Alerts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2540"/>
                </a:solidFill>
              </a:defRPr>
            </a:pPr>
            <a:r>
              <a:t>Automated CI/CD Pipeline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9202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1920240" cy="5486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2540"/>
                </a:solidFill>
              </a:defRPr>
            </a:pPr>
            <a:r>
              <a:t>1. Code Commit</a:t>
            </a:r>
          </a:p>
          <a:p>
            <a:pPr algn="ctr"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GitHub Push / PR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2011680"/>
            <a:ext cx="19202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6080" y="2011680"/>
            <a:ext cx="1920240" cy="54864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205740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74320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2540"/>
                </a:solidFill>
              </a:defRPr>
            </a:pPr>
            <a:r>
              <a:t>2. Automated Test</a:t>
            </a:r>
          </a:p>
          <a:p>
            <a:pPr algn="ctr"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Jest &amp; Lint Scans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2011680"/>
            <a:ext cx="19202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20640" y="2011680"/>
            <a:ext cx="1920240" cy="5486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9" y="205740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9" y="274320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2540"/>
                </a:solidFill>
              </a:defRPr>
            </a:pPr>
            <a:r>
              <a:t>3. Docker Build</a:t>
            </a:r>
          </a:p>
          <a:p>
            <a:pPr algn="ctr"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Multi-stage Image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199" y="2011680"/>
            <a:ext cx="19202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199" y="2011680"/>
            <a:ext cx="1920240" cy="54864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205740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74320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2540"/>
                </a:solidFill>
              </a:defRPr>
            </a:pPr>
            <a:r>
              <a:t>4. Push to ECR</a:t>
            </a:r>
          </a:p>
          <a:p>
            <a:pPr algn="ctr"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Amazon Registry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60" y="2011680"/>
            <a:ext cx="19202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09760" y="2011680"/>
            <a:ext cx="1920240" cy="5486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205740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74320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2540"/>
                </a:solidFill>
              </a:defRPr>
            </a:pPr>
            <a:r>
              <a:t>5. K8s Deploy</a:t>
            </a:r>
          </a:p>
          <a:p>
            <a:pPr algn="ctr"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Zero-Downtime Rollout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2540"/>
                </a:solidFill>
              </a:defRPr>
            </a:pPr>
            <a:r>
              <a:t>Observability, Monitoring &amp; Security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2540"/>
                </a:solidFill>
              </a:defRPr>
            </a:pPr>
            <a:r>
              <a:t>Prometheus &amp; Grafana Observability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📊 Time-series metric collection with Prometheus scraper jobs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📊 Node Exporter &amp; kube-state-metrics integration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📊 Real-time Grafana dashboards visualizing CPU, memory &amp; request latency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📊 Automated Alertmanager triggers for threshold violations (HTTP 5xx spikes)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371600"/>
            <a:ext cx="521208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30975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B4A0"/>
                </a:solidFill>
              </a:defRPr>
            </a:pPr>
            <a:r>
              <a:t>Cloud Security &amp; Best Practices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🔒 AWS IAM Roles with Least Privilege access policy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🔒 Private VPC Subnets for DB isolation (zero public IP exposure)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🔒 Nginx SSL/TLS Termination &amp; Security Hardening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🔒 JWT Token Authentication &amp; Role-Based Access Control (RBAC)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2540"/>
                </a:solidFill>
              </a:defRPr>
            </a:pPr>
            <a:r>
              <a:t>Key Achievements &amp; Quantified Outcomes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13455" cy="4663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476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A2540"/>
                </a:solidFill>
              </a:defRPr>
            </a:pPr>
            <a:r>
              <a:t>100%</a:t>
            </a:r>
          </a:p>
          <a:p>
            <a:pPr algn="ctr">
              <a:spcBef>
                <a:spcPts val="1000"/>
              </a:spcBef>
              <a:defRPr sz="1600" b="1">
                <a:solidFill>
                  <a:srgbClr val="0A2540"/>
                </a:solidFill>
              </a:defRPr>
            </a:pPr>
            <a:r>
              <a:t>Infrastructure Automation</a:t>
            </a:r>
          </a:p>
          <a:p>
            <a:pPr algn="ctr"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Provisioning time cut from hours to &lt; 8 mins via Terraform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413455" cy="4663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476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B4A0"/>
                </a:solidFill>
              </a:defRPr>
            </a:pPr>
            <a:r>
              <a:t>99.99%</a:t>
            </a:r>
          </a:p>
          <a:p>
            <a:pPr algn="ctr">
              <a:spcBef>
                <a:spcPts val="1000"/>
              </a:spcBef>
              <a:defRPr sz="1600" b="1">
                <a:solidFill>
                  <a:srgbClr val="0A2540"/>
                </a:solidFill>
              </a:defRPr>
            </a:pPr>
            <a:r>
              <a:t>Service Availability</a:t>
            </a:r>
          </a:p>
          <a:p>
            <a:pPr algn="ctr"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Zero-downtime rolling updates managed via Kubernetes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413455" cy="4663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476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A2540"/>
                </a:solidFill>
              </a:defRPr>
            </a:pPr>
            <a:r>
              <a:t>50%+</a:t>
            </a:r>
          </a:p>
          <a:p>
            <a:pPr algn="ctr">
              <a:spcBef>
                <a:spcPts val="1000"/>
              </a:spcBef>
              <a:defRPr sz="1600" b="1">
                <a:solidFill>
                  <a:srgbClr val="0A2540"/>
                </a:solidFill>
              </a:defRPr>
            </a:pPr>
            <a:r>
              <a:t>Reduction in MTTR</a:t>
            </a:r>
          </a:p>
          <a:p>
            <a:pPr algn="ctr"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Prometheus &amp; Grafana alerting accelerated root-cause detection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371600"/>
            <a:ext cx="88998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B4A0"/>
                </a:solidFill>
              </a:defRPr>
            </a:pPr>
            <a:r>
              <a:t>CONCLUSION &amp; LEARNING OUTCOMES</a:t>
            </a:r>
          </a:p>
          <a:p>
            <a:pPr algn="l">
              <a:spcBef>
                <a:spcPts val="1200"/>
              </a:spcBef>
              <a:defRPr sz="1400">
                <a:solidFill>
                  <a:srgbClr val="FFFFFF"/>
                </a:solidFill>
              </a:defRPr>
            </a:pPr>
            <a:r>
              <a:t>✔ Mastered Industry-Standard Cloud &amp; DevOps engineering workflows at SystemaOps.</a:t>
            </a:r>
          </a:p>
          <a:p>
            <a:pPr algn="l">
              <a:spcBef>
                <a:spcPts val="1200"/>
              </a:spcBef>
              <a:defRPr sz="1400">
                <a:solidFill>
                  <a:srgbClr val="FFFFFF"/>
                </a:solidFill>
              </a:defRPr>
            </a:pPr>
            <a:r>
              <a:t>✔ Successfully delivered production-ready Infrastructure as Code, CI/CD, and Observability.</a:t>
            </a:r>
          </a:p>
          <a:p>
            <a:pPr algn="l">
              <a:spcBef>
                <a:spcPts val="1200"/>
              </a:spcBef>
              <a:defRPr sz="1400">
                <a:solidFill>
                  <a:srgbClr val="FFFFFF"/>
                </a:solidFill>
              </a:defRPr>
            </a:pPr>
            <a:r>
              <a:t>✔ Significantly enhanced technical expertise in AWS, Terraform, Docker, Kubernetes, Jenkins &amp; Monitoring.</a:t>
            </a:r>
          </a:p>
          <a:p>
            <a:pPr algn="l">
              <a:spcBef>
                <a:spcPts val="1200"/>
              </a:spcBef>
              <a:defRPr sz="1400">
                <a:solidFill>
                  <a:srgbClr val="FFFFFF"/>
                </a:solidFill>
              </a:defRPr>
            </a:pPr>
            <a:r>
              <a:t>✔ Prepared public GitHub repository containing all artifacts per IILM University guidelines.</a:t>
            </a:r>
          </a:p>
          <a:p>
            <a:br/>
            <a:pPr algn="ctr">
              <a:defRPr sz="2000" b="1">
                <a:solidFill>
                  <a:srgbClr val="00B4A0"/>
                </a:solidFill>
              </a:defRPr>
            </a:pPr>
            <a:r>
              <a:t>Thank You!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